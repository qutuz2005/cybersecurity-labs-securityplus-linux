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DOCUMENTATION</a:t>
            </a:r>
            <a:endParaRPr lang="en-US" sz="1800" dirty="0"/>
          </a:p>
        </p:txBody>
      </p:sp>
      <p:sp>
        <p:nvSpPr>
          <p:cNvPr id="3" name="Text 1"/>
          <p:cNvSpPr/>
          <p:nvPr/>
        </p:nvSpPr>
        <p:spPr>
          <a:xfrm>
            <a:off x="12344400" y="533095"/>
            <a:ext cx="50292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OCTOBER 2026</a:t>
            </a:r>
            <a:endParaRPr lang="en-US" sz="1800" dirty="0"/>
          </a:p>
        </p:txBody>
      </p:sp>
      <p:sp>
        <p:nvSpPr>
          <p:cNvPr id="4" name="Text 2"/>
          <p:cNvSpPr/>
          <p:nvPr/>
        </p:nvSpPr>
        <p:spPr>
          <a:xfrm>
            <a:off x="952805" y="2926080"/>
            <a:ext cx="16367760" cy="1097280"/>
          </a:xfrm>
          <a:prstGeom prst="rect">
            <a:avLst/>
          </a:prstGeom>
          <a:noFill/>
          <a:ln/>
        </p:spPr>
        <p:txBody>
          <a:bodyPr wrap="square" lIns="0" tIns="0" rIns="0" bIns="0" rtlCol="0" anchor="ctr"/>
          <a:lstStyle/>
          <a:p>
            <a:pPr algn="l" indent="0" marL="0">
              <a:buNone/>
            </a:pPr>
            <a:r>
              <a:rPr lang="en-US" sz="7200" spc="-80" kern="0" dirty="0">
                <a:solidFill>
                  <a:srgbClr val="ECE8E1"/>
                </a:solidFill>
                <a:latin typeface="Arial" pitchFamily="34" charset="0"/>
                <a:ea typeface="Arial" pitchFamily="34" charset="-122"/>
                <a:cs typeface="Arial" pitchFamily="34" charset="-120"/>
              </a:rPr>
              <a:t>Cryptography</a:t>
            </a:r>
            <a:endParaRPr lang="en-US" sz="7200" dirty="0"/>
          </a:p>
        </p:txBody>
      </p:sp>
      <p:sp>
        <p:nvSpPr>
          <p:cNvPr id="5" name="Text 3"/>
          <p:cNvSpPr/>
          <p:nvPr/>
        </p:nvSpPr>
        <p:spPr>
          <a:xfrm>
            <a:off x="952805" y="4114800"/>
            <a:ext cx="16367760" cy="457200"/>
          </a:xfrm>
          <a:prstGeom prst="rect">
            <a:avLst/>
          </a:prstGeom>
          <a:noFill/>
          <a:ln/>
        </p:spPr>
        <p:txBody>
          <a:bodyPr wrap="square" lIns="0" tIns="0" rIns="0" bIns="0" rtlCol="0" anchor="ctr"/>
          <a:lstStyle/>
          <a:p>
            <a:pPr algn="l" indent="0" marL="0">
              <a:buNone/>
            </a:pPr>
            <a:r>
              <a:rPr lang="en-US" sz="2400" spc="40" kern="0" dirty="0">
                <a:solidFill>
                  <a:srgbClr val="A8A49B"/>
                </a:solidFill>
                <a:latin typeface="Arial" pitchFamily="34" charset="0"/>
                <a:ea typeface="Arial" pitchFamily="34" charset="-122"/>
                <a:cs typeface="Arial" pitchFamily="34" charset="-120"/>
              </a:rPr>
              <a:t>Symmetric Encryption • File Encryption • Cryptographic Hashing</a:t>
            </a:r>
            <a:endParaRPr lang="en-US" sz="2400" dirty="0"/>
          </a:p>
        </p:txBody>
      </p:sp>
      <p:sp>
        <p:nvSpPr>
          <p:cNvPr id="6" name="Shape 4"/>
          <p:cNvSpPr/>
          <p:nvPr/>
        </p:nvSpPr>
        <p:spPr>
          <a:xfrm>
            <a:off x="952805" y="4937760"/>
            <a:ext cx="16367760" cy="9144"/>
          </a:xfrm>
          <a:prstGeom prst="rect">
            <a:avLst/>
          </a:prstGeom>
          <a:solidFill>
            <a:srgbClr val="2A2A28"/>
          </a:solidFill>
          <a:ln/>
        </p:spPr>
      </p:sp>
      <p:sp>
        <p:nvSpPr>
          <p:cNvPr id="7" name="Text 5"/>
          <p:cNvSpPr/>
          <p:nvPr/>
        </p:nvSpPr>
        <p:spPr>
          <a:xfrm>
            <a:off x="952805" y="5486400"/>
            <a:ext cx="36576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Student</a:t>
            </a:r>
            <a:endParaRPr lang="en-US" sz="1600" dirty="0"/>
          </a:p>
        </p:txBody>
      </p:sp>
      <p:sp>
        <p:nvSpPr>
          <p:cNvPr id="8" name="Text 6"/>
          <p:cNvSpPr/>
          <p:nvPr/>
        </p:nvSpPr>
        <p:spPr>
          <a:xfrm>
            <a:off x="952805" y="5806440"/>
            <a:ext cx="3657600" cy="411480"/>
          </a:xfrm>
          <a:prstGeom prst="rect">
            <a:avLst/>
          </a:prstGeom>
          <a:noFill/>
          <a:ln/>
        </p:spPr>
        <p:txBody>
          <a:bodyPr wrap="square" lIns="0" tIns="0" rIns="0" bIns="0" rtlCol="0" anchor="ctr"/>
          <a:lstStyle/>
          <a:p>
            <a:pPr indent="0" marL="0">
              <a:buNone/>
            </a:pPr>
            <a:r>
              <a:rPr lang="en-US" sz="2800" dirty="0">
                <a:solidFill>
                  <a:srgbClr val="ECE8E1"/>
                </a:solidFill>
                <a:latin typeface="Arial" pitchFamily="34" charset="0"/>
                <a:ea typeface="Arial" pitchFamily="34" charset="-122"/>
                <a:cs typeface="Arial" pitchFamily="34" charset="-120"/>
              </a:rPr>
              <a:t>Karim Hamd</a:t>
            </a:r>
            <a:endParaRPr lang="en-US" sz="2800" dirty="0"/>
          </a:p>
        </p:txBody>
      </p:sp>
      <p:sp>
        <p:nvSpPr>
          <p:cNvPr id="9" name="Text 7"/>
          <p:cNvSpPr/>
          <p:nvPr/>
        </p:nvSpPr>
        <p:spPr>
          <a:xfrm>
            <a:off x="6858000" y="5486400"/>
            <a:ext cx="45720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Supervised by</a:t>
            </a:r>
            <a:endParaRPr lang="en-US" sz="1600" dirty="0"/>
          </a:p>
        </p:txBody>
      </p:sp>
      <p:sp>
        <p:nvSpPr>
          <p:cNvPr id="10" name="Text 8"/>
          <p:cNvSpPr/>
          <p:nvPr/>
        </p:nvSpPr>
        <p:spPr>
          <a:xfrm>
            <a:off x="6858000" y="5806440"/>
            <a:ext cx="4572000" cy="411480"/>
          </a:xfrm>
          <a:prstGeom prst="rect">
            <a:avLst/>
          </a:prstGeom>
          <a:noFill/>
          <a:ln/>
        </p:spPr>
        <p:txBody>
          <a:bodyPr wrap="square" lIns="0" tIns="0" rIns="0" bIns="0" rtlCol="0" anchor="ctr"/>
          <a:lstStyle/>
          <a:p>
            <a:pPr indent="0" marL="0">
              <a:buNone/>
            </a:pPr>
            <a:r>
              <a:rPr lang="en-US" sz="2800" dirty="0">
                <a:solidFill>
                  <a:srgbClr val="ECE8E1"/>
                </a:solidFill>
                <a:latin typeface="Arial" pitchFamily="34" charset="0"/>
                <a:ea typeface="Arial" pitchFamily="34" charset="-122"/>
                <a:cs typeface="Arial" pitchFamily="34" charset="-120"/>
              </a:rPr>
              <a:t>Eng. Saher Waleed</a:t>
            </a:r>
            <a:endParaRPr lang="en-US" sz="2800" dirty="0"/>
          </a:p>
        </p:txBody>
      </p:sp>
      <p:sp>
        <p:nvSpPr>
          <p:cNvPr id="11" name="Text 9"/>
          <p:cNvSpPr/>
          <p:nvPr/>
        </p:nvSpPr>
        <p:spPr>
          <a:xfrm>
            <a:off x="13258800" y="5486400"/>
            <a:ext cx="36576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Date</a:t>
            </a:r>
            <a:endParaRPr lang="en-US" sz="1600" dirty="0"/>
          </a:p>
        </p:txBody>
      </p:sp>
      <p:sp>
        <p:nvSpPr>
          <p:cNvPr id="12" name="Text 10"/>
          <p:cNvSpPr/>
          <p:nvPr/>
        </p:nvSpPr>
        <p:spPr>
          <a:xfrm>
            <a:off x="13258800" y="5806440"/>
            <a:ext cx="3657600" cy="411480"/>
          </a:xfrm>
          <a:prstGeom prst="rect">
            <a:avLst/>
          </a:prstGeom>
          <a:noFill/>
          <a:ln/>
        </p:spPr>
        <p:txBody>
          <a:bodyPr wrap="square" lIns="0" tIns="0" rIns="0" bIns="0" rtlCol="0" anchor="ctr"/>
          <a:lstStyle/>
          <a:p>
            <a:pPr indent="0" marL="0">
              <a:buNone/>
            </a:pPr>
            <a:r>
              <a:rPr lang="en-US" sz="2800" dirty="0">
                <a:solidFill>
                  <a:srgbClr val="ECE8E1"/>
                </a:solidFill>
                <a:latin typeface="Arial" pitchFamily="34" charset="0"/>
                <a:ea typeface="Arial" pitchFamily="34" charset="-122"/>
                <a:cs typeface="Arial" pitchFamily="34" charset="-120"/>
              </a:rPr>
              <a:t>October 2026</a:t>
            </a:r>
            <a:endParaRPr lang="en-US" sz="2800" dirty="0"/>
          </a:p>
        </p:txBody>
      </p:sp>
      <p:sp>
        <p:nvSpPr>
          <p:cNvPr id="13" name="Text 11"/>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14" name="Text 12"/>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01 / TASK ONE</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02</a:t>
            </a:r>
            <a:endParaRPr lang="en-US" sz="1600" dirty="0"/>
          </a:p>
        </p:txBody>
      </p:sp>
      <p:sp>
        <p:nvSpPr>
          <p:cNvPr id="6" name="Text 4"/>
          <p:cNvSpPr/>
          <p:nvPr/>
        </p:nvSpPr>
        <p:spPr>
          <a:xfrm>
            <a:off x="952805" y="1280160"/>
            <a:ext cx="16367760" cy="640080"/>
          </a:xfrm>
          <a:prstGeom prst="rect">
            <a:avLst/>
          </a:prstGeom>
          <a:noFill/>
          <a:ln/>
        </p:spPr>
        <p:txBody>
          <a:bodyPr wrap="square" lIns="0" tIns="0" rIns="0" bIns="0" rtlCol="0" anchor="ctr"/>
          <a:lstStyle/>
          <a:p>
            <a:pPr indent="0" marL="0">
              <a:buNone/>
            </a:pPr>
            <a:r>
              <a:rPr lang="en-US" sz="3600" dirty="0">
                <a:solidFill>
                  <a:srgbClr val="ECE8E1"/>
                </a:solidFill>
                <a:latin typeface="Arial" pitchFamily="34" charset="0"/>
                <a:ea typeface="Arial" pitchFamily="34" charset="-122"/>
                <a:cs typeface="Arial" pitchFamily="34" charset="-120"/>
              </a:rPr>
              <a:t>Online AES Symmetric Encryption &amp; Decryption</a:t>
            </a:r>
            <a:endParaRPr lang="en-US" sz="3600" dirty="0"/>
          </a:p>
        </p:txBody>
      </p:sp>
      <p:sp>
        <p:nvSpPr>
          <p:cNvPr id="7" name="Shape 5"/>
          <p:cNvSpPr/>
          <p:nvPr/>
        </p:nvSpPr>
        <p:spPr>
          <a:xfrm>
            <a:off x="952805" y="2011680"/>
            <a:ext cx="16367760" cy="9144"/>
          </a:xfrm>
          <a:prstGeom prst="rect">
            <a:avLst/>
          </a:prstGeom>
          <a:solidFill>
            <a:srgbClr val="2A2A28"/>
          </a:solidFill>
          <a:ln/>
        </p:spPr>
      </p:sp>
      <p:sp>
        <p:nvSpPr>
          <p:cNvPr id="8" name="Text 6"/>
          <p:cNvSpPr/>
          <p:nvPr/>
        </p:nvSpPr>
        <p:spPr>
          <a:xfrm>
            <a:off x="952805" y="2286000"/>
            <a:ext cx="7315200" cy="365760"/>
          </a:xfrm>
          <a:prstGeom prst="rect">
            <a:avLst/>
          </a:prstGeom>
          <a:noFill/>
          <a:ln/>
        </p:spPr>
        <p:txBody>
          <a:bodyPr wrap="square" lIns="0" tIns="0" rIns="0" bIns="0" rtlCol="0" anchor="ctr"/>
          <a:lstStyle/>
          <a:p>
            <a:pPr indent="0" marL="0">
              <a:buNone/>
            </a:pPr>
            <a:r>
              <a:rPr lang="en-US" sz="2000" dirty="0">
                <a:solidFill>
                  <a:srgbClr val="6B6760"/>
                </a:solidFill>
                <a:latin typeface="Arial" pitchFamily="34" charset="0"/>
                <a:ea typeface="Arial" pitchFamily="34" charset="-122"/>
                <a:cs typeface="Arial" pitchFamily="34" charset="-120"/>
              </a:rPr>
              <a:t>Overview</a:t>
            </a:r>
            <a:endParaRPr lang="en-US" sz="2000" dirty="0"/>
          </a:p>
        </p:txBody>
      </p:sp>
      <p:sp>
        <p:nvSpPr>
          <p:cNvPr id="9" name="Text 7"/>
          <p:cNvSpPr/>
          <p:nvPr/>
        </p:nvSpPr>
        <p:spPr>
          <a:xfrm>
            <a:off x="952805" y="2743200"/>
            <a:ext cx="16002000" cy="914400"/>
          </a:xfrm>
          <a:prstGeom prst="rect">
            <a:avLst/>
          </a:prstGeom>
          <a:noFill/>
          <a:ln/>
        </p:spPr>
        <p:txBody>
          <a:bodyPr wrap="square" lIns="0" tIns="0" rIns="0" bIns="0" rtlCol="0" anchor="ctr"/>
          <a:lstStyle/>
          <a:p>
            <a:pPr indent="0" marL="0">
              <a:buNone/>
            </a:pPr>
            <a:r>
              <a:rPr lang="en-US" sz="2200" dirty="0">
                <a:solidFill>
                  <a:srgbClr val="A8A49B"/>
                </a:solidFill>
                <a:latin typeface="Arial" pitchFamily="34" charset="0"/>
                <a:ea typeface="Arial" pitchFamily="34" charset="-122"/>
                <a:cs typeface="Arial" pitchFamily="34" charset="-120"/>
              </a:rPr>
              <a:t>In this task, an online tool was used to demonstrate symmetric encryption using the Advanced Encryption Standard (AES) algorithm.</a:t>
            </a:r>
            <a:endParaRPr lang="en-US" sz="2200" dirty="0"/>
          </a:p>
        </p:txBody>
      </p:sp>
      <p:sp>
        <p:nvSpPr>
          <p:cNvPr id="10" name="Shape 8"/>
          <p:cNvSpPr/>
          <p:nvPr/>
        </p:nvSpPr>
        <p:spPr>
          <a:xfrm>
            <a:off x="952805" y="3931920"/>
            <a:ext cx="16367760" cy="4114800"/>
          </a:xfrm>
          <a:prstGeom prst="roundRect">
            <a:avLst>
              <a:gd name="adj" fmla="val 2222"/>
            </a:avLst>
          </a:prstGeom>
          <a:solidFill>
            <a:srgbClr val="121212"/>
          </a:solidFill>
          <a:ln/>
        </p:spPr>
      </p:sp>
      <p:sp>
        <p:nvSpPr>
          <p:cNvPr id="11" name="Text 9"/>
          <p:cNvSpPr/>
          <p:nvPr/>
        </p:nvSpPr>
        <p:spPr>
          <a:xfrm>
            <a:off x="1371600" y="4206240"/>
            <a:ext cx="15087600" cy="457200"/>
          </a:xfrm>
          <a:prstGeom prst="rect">
            <a:avLst/>
          </a:prstGeom>
          <a:noFill/>
          <a:ln/>
        </p:spPr>
        <p:txBody>
          <a:bodyPr wrap="square" lIns="0" tIns="0" rIns="0" bIns="0" rtlCol="0" anchor="ctr"/>
          <a:lstStyle/>
          <a:p>
            <a:pPr indent="0" marL="0">
              <a:buNone/>
            </a:pPr>
            <a:r>
              <a:rPr lang="en-US" sz="2200" dirty="0">
                <a:solidFill>
                  <a:srgbClr val="ECE8E1"/>
                </a:solidFill>
                <a:latin typeface="Arial" pitchFamily="34" charset="0"/>
                <a:ea typeface="Arial" pitchFamily="34" charset="-122"/>
                <a:cs typeface="Arial" pitchFamily="34" charset="-120"/>
              </a:rPr>
              <a:t>Concept — Symmetric Encryption</a:t>
            </a:r>
            <a:endParaRPr lang="en-US" sz="2200" dirty="0"/>
          </a:p>
        </p:txBody>
      </p:sp>
      <p:sp>
        <p:nvSpPr>
          <p:cNvPr id="12" name="Text 10"/>
          <p:cNvSpPr/>
          <p:nvPr/>
        </p:nvSpPr>
        <p:spPr>
          <a:xfrm>
            <a:off x="1371600" y="4846320"/>
            <a:ext cx="15087600" cy="1371600"/>
          </a:xfrm>
          <a:prstGeom prst="rect">
            <a:avLst/>
          </a:prstGeom>
          <a:noFill/>
          <a:ln/>
        </p:spPr>
        <p:txBody>
          <a:bodyPr wrap="square" lIns="0" tIns="0" rIns="0" bIns="0" rtlCol="0" anchor="ctr"/>
          <a:lstStyle/>
          <a:p>
            <a:pPr indent="0" marL="0">
              <a:buNone/>
            </a:pPr>
            <a:r>
              <a:rPr lang="en-US" sz="2000" dirty="0">
                <a:solidFill>
                  <a:srgbClr val="A8A49B"/>
                </a:solidFill>
                <a:latin typeface="Arial" pitchFamily="34" charset="0"/>
                <a:ea typeface="Arial" pitchFamily="34" charset="-122"/>
                <a:cs typeface="Arial" pitchFamily="34" charset="-120"/>
              </a:rPr>
              <a:t>Symmetric encryption uses a single pre-shared secret key to both encrypt the plaintext and decrypt the ciphertext. Without the correct secret key, the encrypted message cannot be reverted back to its original plain form.</a:t>
            </a:r>
            <a:endParaRPr lang="en-US" sz="2000" dirty="0"/>
          </a:p>
        </p:txBody>
      </p:sp>
      <p:sp>
        <p:nvSpPr>
          <p:cNvPr id="13" name="Text 11"/>
          <p:cNvSpPr/>
          <p:nvPr/>
        </p:nvSpPr>
        <p:spPr>
          <a:xfrm>
            <a:off x="1371600" y="6309360"/>
            <a:ext cx="15087600" cy="1371600"/>
          </a:xfrm>
          <a:prstGeom prst="rect">
            <a:avLst/>
          </a:prstGeom>
          <a:noFill/>
          <a:ln/>
        </p:spPr>
        <p:txBody>
          <a:bodyPr wrap="square" lIns="0" tIns="0" rIns="0" bIns="0" rtlCol="0" anchor="ctr"/>
          <a:lstStyle/>
          <a:p>
            <a:pPr indent="0" marL="0">
              <a:buNone/>
            </a:pPr>
            <a:r>
              <a:rPr lang="en-US" sz="2000" dirty="0">
                <a:solidFill>
                  <a:srgbClr val="A8A49B"/>
                </a:solidFill>
                <a:latin typeface="Arial" pitchFamily="34" charset="0"/>
                <a:ea typeface="Arial" pitchFamily="34" charset="-122"/>
                <a:cs typeface="Arial" pitchFamily="34" charset="-120"/>
              </a:rPr>
              <a:t>In the demonstration, the plaintext “The engineer Saher is one, the monster of the security is the destroyer of the encryption, the octopus of the network” was encrypted with the secret key “Eng.Saher” using AES-256, producing a Base64 ciphertext. The same key successfully restored the original message.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01 / TASK ONE</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03</a:t>
            </a:r>
            <a:endParaRPr lang="en-US" sz="1600" dirty="0"/>
          </a:p>
        </p:txBody>
      </p:sp>
      <p:sp>
        <p:nvSpPr>
          <p:cNvPr id="6" name="Text 4"/>
          <p:cNvSpPr/>
          <p:nvPr/>
        </p:nvSpPr>
        <p:spPr>
          <a:xfrm>
            <a:off x="952805" y="1188720"/>
            <a:ext cx="16367760" cy="457200"/>
          </a:xfrm>
          <a:prstGeom prst="rect">
            <a:avLst/>
          </a:prstGeom>
          <a:noFill/>
          <a:ln/>
        </p:spPr>
        <p:txBody>
          <a:bodyPr wrap="square" lIns="0" tIns="0" rIns="0" bIns="0" rtlCol="0" anchor="ctr"/>
          <a:lstStyle/>
          <a:p>
            <a:pPr indent="0" marL="0">
              <a:buNone/>
            </a:pPr>
            <a:r>
              <a:rPr lang="en-US" sz="2800" dirty="0">
                <a:solidFill>
                  <a:srgbClr val="ECE8E1"/>
                </a:solidFill>
                <a:latin typeface="Arial" pitchFamily="34" charset="0"/>
                <a:ea typeface="Arial" pitchFamily="34" charset="-122"/>
                <a:cs typeface="Arial" pitchFamily="34" charset="-120"/>
              </a:rPr>
              <a:t>Demonstration — Encrypt &amp; Decrypt</a:t>
            </a:r>
            <a:endParaRPr lang="en-US" sz="2800" dirty="0"/>
          </a:p>
        </p:txBody>
      </p:sp>
      <p:sp>
        <p:nvSpPr>
          <p:cNvPr id="7" name="Text 5"/>
          <p:cNvSpPr/>
          <p:nvPr/>
        </p:nvSpPr>
        <p:spPr>
          <a:xfrm>
            <a:off x="952805" y="1783080"/>
            <a:ext cx="77724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Encryption Result (AES-256, Key: Eng.Saher)</a:t>
            </a:r>
            <a:endParaRPr lang="en-US" sz="1600" dirty="0"/>
          </a:p>
        </p:txBody>
      </p:sp>
      <p:pic>
        <p:nvPicPr>
          <p:cNvPr id="8" name="Image 0" descr="/home/workdir/artifacts/task1_encrypt.png">    </p:cNvPr>
          <p:cNvPicPr>
            <a:picLocks noChangeAspect="1"/>
          </p:cNvPicPr>
          <p:nvPr/>
        </p:nvPicPr>
        <p:blipFill>
          <a:blip r:embed="rId1"/>
          <a:stretch>
            <a:fillRect/>
          </a:stretch>
        </p:blipFill>
        <p:spPr>
          <a:xfrm>
            <a:off x="952805" y="2148840"/>
            <a:ext cx="7955280" cy="6217920"/>
          </a:xfrm>
          <a:prstGeom prst="rect">
            <a:avLst/>
          </a:prstGeom>
        </p:spPr>
      </p:pic>
      <p:sp>
        <p:nvSpPr>
          <p:cNvPr id="9" name="Text 6"/>
          <p:cNvSpPr/>
          <p:nvPr/>
        </p:nvSpPr>
        <p:spPr>
          <a:xfrm>
            <a:off x="9418320" y="1783080"/>
            <a:ext cx="77724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Decryption Result — Original Plaintext Restored</a:t>
            </a:r>
            <a:endParaRPr lang="en-US" sz="1600" dirty="0"/>
          </a:p>
        </p:txBody>
      </p:sp>
      <p:pic>
        <p:nvPicPr>
          <p:cNvPr id="10" name="Image 1" descr="/home/workdir/artifacts/task1_decrypt.png">    </p:cNvPr>
          <p:cNvPicPr>
            <a:picLocks noChangeAspect="1"/>
          </p:cNvPicPr>
          <p:nvPr/>
        </p:nvPicPr>
        <p:blipFill>
          <a:blip r:embed="rId2"/>
          <a:stretch>
            <a:fillRect/>
          </a:stretch>
        </p:blipFill>
        <p:spPr>
          <a:xfrm>
            <a:off x="9418320" y="2148840"/>
            <a:ext cx="7955280" cy="6217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02 / TASK TWO</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04</a:t>
            </a:r>
            <a:endParaRPr lang="en-US" sz="1600" dirty="0"/>
          </a:p>
        </p:txBody>
      </p:sp>
      <p:sp>
        <p:nvSpPr>
          <p:cNvPr id="6" name="Text 4"/>
          <p:cNvSpPr/>
          <p:nvPr/>
        </p:nvSpPr>
        <p:spPr>
          <a:xfrm>
            <a:off x="952805" y="1280160"/>
            <a:ext cx="16367760" cy="640080"/>
          </a:xfrm>
          <a:prstGeom prst="rect">
            <a:avLst/>
          </a:prstGeom>
          <a:noFill/>
          <a:ln/>
        </p:spPr>
        <p:txBody>
          <a:bodyPr wrap="square" lIns="0" tIns="0" rIns="0" bIns="0" rtlCol="0" anchor="ctr"/>
          <a:lstStyle/>
          <a:p>
            <a:pPr indent="0" marL="0">
              <a:buNone/>
            </a:pPr>
            <a:r>
              <a:rPr lang="en-US" sz="3400" dirty="0">
                <a:solidFill>
                  <a:srgbClr val="ECE8E1"/>
                </a:solidFill>
                <a:latin typeface="Arial" pitchFamily="34" charset="0"/>
                <a:ea typeface="Arial" pitchFamily="34" charset="-122"/>
                <a:cs typeface="Arial" pitchFamily="34" charset="-120"/>
              </a:rPr>
              <a:t>File Encryption and Decryption using OpenSSL</a:t>
            </a:r>
            <a:endParaRPr lang="en-US" sz="3400" dirty="0"/>
          </a:p>
        </p:txBody>
      </p:sp>
      <p:sp>
        <p:nvSpPr>
          <p:cNvPr id="7" name="Shape 5"/>
          <p:cNvSpPr/>
          <p:nvPr/>
        </p:nvSpPr>
        <p:spPr>
          <a:xfrm>
            <a:off x="952805" y="2011680"/>
            <a:ext cx="16367760" cy="9144"/>
          </a:xfrm>
          <a:prstGeom prst="rect">
            <a:avLst/>
          </a:prstGeom>
          <a:solidFill>
            <a:srgbClr val="2A2A28"/>
          </a:solidFill>
          <a:ln/>
        </p:spPr>
      </p:sp>
      <p:sp>
        <p:nvSpPr>
          <p:cNvPr id="8" name="Text 6"/>
          <p:cNvSpPr/>
          <p:nvPr/>
        </p:nvSpPr>
        <p:spPr>
          <a:xfrm>
            <a:off x="952805" y="2286000"/>
            <a:ext cx="7315200" cy="320040"/>
          </a:xfrm>
          <a:prstGeom prst="rect">
            <a:avLst/>
          </a:prstGeom>
          <a:noFill/>
          <a:ln/>
        </p:spPr>
        <p:txBody>
          <a:bodyPr wrap="square" lIns="0" tIns="0" rIns="0" bIns="0" rtlCol="0" anchor="ctr"/>
          <a:lstStyle/>
          <a:p>
            <a:pPr indent="0" marL="0">
              <a:buNone/>
            </a:pPr>
            <a:r>
              <a:rPr lang="en-US" sz="1800" dirty="0">
                <a:solidFill>
                  <a:srgbClr val="6B6760"/>
                </a:solidFill>
                <a:latin typeface="Arial" pitchFamily="34" charset="0"/>
                <a:ea typeface="Arial" pitchFamily="34" charset="-122"/>
                <a:cs typeface="Arial" pitchFamily="34" charset="-120"/>
              </a:rPr>
              <a:t>Overview</a:t>
            </a:r>
            <a:endParaRPr lang="en-US" sz="1800" dirty="0"/>
          </a:p>
        </p:txBody>
      </p:sp>
      <p:sp>
        <p:nvSpPr>
          <p:cNvPr id="9" name="Text 7"/>
          <p:cNvSpPr/>
          <p:nvPr/>
        </p:nvSpPr>
        <p:spPr>
          <a:xfrm>
            <a:off x="952805" y="2697480"/>
            <a:ext cx="16002000" cy="1005840"/>
          </a:xfrm>
          <a:prstGeom prst="rect">
            <a:avLst/>
          </a:prstGeom>
          <a:noFill/>
          <a:ln/>
        </p:spPr>
        <p:txBody>
          <a:bodyPr wrap="square" lIns="0" tIns="0" rIns="0" bIns="0" rtlCol="0" anchor="ctr"/>
          <a:lstStyle/>
          <a:p>
            <a:pPr indent="0" marL="0">
              <a:buNone/>
            </a:pPr>
            <a:r>
              <a:rPr lang="en-US" sz="2000" dirty="0">
                <a:solidFill>
                  <a:srgbClr val="A8A49B"/>
                </a:solidFill>
                <a:latin typeface="Arial" pitchFamily="34" charset="0"/>
                <a:ea typeface="Arial" pitchFamily="34" charset="-122"/>
                <a:cs typeface="Arial" pitchFamily="34" charset="-120"/>
              </a:rPr>
              <a:t>A text file named “SafeSurf_file.txt” containing multiple lines of text was created on Kali Linux. The file was then encrypted and decrypted using the OpenSSL CLI tool with AES-256-CBC.</a:t>
            </a:r>
            <a:endParaRPr lang="en-US" sz="2000" dirty="0"/>
          </a:p>
        </p:txBody>
      </p:sp>
      <p:sp>
        <p:nvSpPr>
          <p:cNvPr id="10" name="Text 8"/>
          <p:cNvSpPr/>
          <p:nvPr/>
        </p:nvSpPr>
        <p:spPr>
          <a:xfrm>
            <a:off x="952805" y="3931920"/>
            <a:ext cx="7315200" cy="365760"/>
          </a:xfrm>
          <a:prstGeom prst="rect">
            <a:avLst/>
          </a:prstGeom>
          <a:noFill/>
          <a:ln/>
        </p:spPr>
        <p:txBody>
          <a:bodyPr wrap="square" lIns="0" tIns="0" rIns="0" bIns="0" rtlCol="0" anchor="ctr"/>
          <a:lstStyle/>
          <a:p>
            <a:pPr indent="0" marL="0">
              <a:buNone/>
            </a:pPr>
            <a:r>
              <a:rPr lang="en-US" sz="1800" dirty="0">
                <a:solidFill>
                  <a:srgbClr val="6B6760"/>
                </a:solidFill>
                <a:latin typeface="Arial" pitchFamily="34" charset="0"/>
                <a:ea typeface="Arial" pitchFamily="34" charset="-122"/>
                <a:cs typeface="Arial" pitchFamily="34" charset="-120"/>
              </a:rPr>
              <a:t>Commands Executed</a:t>
            </a:r>
            <a:endParaRPr lang="en-US" sz="1800" dirty="0"/>
          </a:p>
        </p:txBody>
      </p:sp>
      <p:sp>
        <p:nvSpPr>
          <p:cNvPr id="11" name="Shape 9"/>
          <p:cNvSpPr/>
          <p:nvPr/>
        </p:nvSpPr>
        <p:spPr>
          <a:xfrm>
            <a:off x="952805" y="4434840"/>
            <a:ext cx="16367760" cy="1097280"/>
          </a:xfrm>
          <a:prstGeom prst="roundRect">
            <a:avLst>
              <a:gd name="adj" fmla="val 6667"/>
            </a:avLst>
          </a:prstGeom>
          <a:solidFill>
            <a:srgbClr val="121212"/>
          </a:solidFill>
          <a:ln/>
        </p:spPr>
      </p:sp>
      <p:sp>
        <p:nvSpPr>
          <p:cNvPr id="12" name="Text 10"/>
          <p:cNvSpPr/>
          <p:nvPr/>
        </p:nvSpPr>
        <p:spPr>
          <a:xfrm>
            <a:off x="1280160" y="4572000"/>
            <a:ext cx="15544800" cy="27432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1. File Creation</a:t>
            </a:r>
            <a:endParaRPr lang="en-US" sz="1600" dirty="0"/>
          </a:p>
        </p:txBody>
      </p:sp>
      <p:sp>
        <p:nvSpPr>
          <p:cNvPr id="13" name="Text 11"/>
          <p:cNvSpPr/>
          <p:nvPr/>
        </p:nvSpPr>
        <p:spPr>
          <a:xfrm>
            <a:off x="1280160" y="4892040"/>
            <a:ext cx="15544800" cy="411480"/>
          </a:xfrm>
          <a:prstGeom prst="rect">
            <a:avLst/>
          </a:prstGeom>
          <a:noFill/>
          <a:ln/>
        </p:spPr>
        <p:txBody>
          <a:bodyPr wrap="square" lIns="0" tIns="0" rIns="0" bIns="0" rtlCol="0" anchor="ctr"/>
          <a:lstStyle/>
          <a:p>
            <a:pPr indent="0" marL="0">
              <a:buNone/>
            </a:pPr>
            <a:r>
              <a:rPr lang="en-US" sz="1800" dirty="0">
                <a:solidFill>
                  <a:srgbClr val="C5DD97"/>
                </a:solidFill>
                <a:latin typeface="Courier New" pitchFamily="34" charset="0"/>
                <a:ea typeface="Courier New" pitchFamily="34" charset="-122"/>
                <a:cs typeface="Courier New" pitchFamily="34" charset="-120"/>
              </a:rPr>
              <a:t>nano ~/SafeSurf_file.txt</a:t>
            </a:r>
            <a:endParaRPr lang="en-US" sz="1800" dirty="0"/>
          </a:p>
        </p:txBody>
      </p:sp>
      <p:sp>
        <p:nvSpPr>
          <p:cNvPr id="14" name="Shape 12"/>
          <p:cNvSpPr/>
          <p:nvPr/>
        </p:nvSpPr>
        <p:spPr>
          <a:xfrm>
            <a:off x="952805" y="5669280"/>
            <a:ext cx="16367760" cy="1097280"/>
          </a:xfrm>
          <a:prstGeom prst="roundRect">
            <a:avLst>
              <a:gd name="adj" fmla="val 6667"/>
            </a:avLst>
          </a:prstGeom>
          <a:solidFill>
            <a:srgbClr val="121212"/>
          </a:solidFill>
          <a:ln/>
        </p:spPr>
      </p:sp>
      <p:sp>
        <p:nvSpPr>
          <p:cNvPr id="15" name="Text 13"/>
          <p:cNvSpPr/>
          <p:nvPr/>
        </p:nvSpPr>
        <p:spPr>
          <a:xfrm>
            <a:off x="1280160" y="5806440"/>
            <a:ext cx="15544800" cy="27432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2. File Encryption (AES-256-CBC)</a:t>
            </a:r>
            <a:endParaRPr lang="en-US" sz="1600" dirty="0"/>
          </a:p>
        </p:txBody>
      </p:sp>
      <p:sp>
        <p:nvSpPr>
          <p:cNvPr id="16" name="Text 14"/>
          <p:cNvSpPr/>
          <p:nvPr/>
        </p:nvSpPr>
        <p:spPr>
          <a:xfrm>
            <a:off x="1280160" y="6126480"/>
            <a:ext cx="15544800" cy="411480"/>
          </a:xfrm>
          <a:prstGeom prst="rect">
            <a:avLst/>
          </a:prstGeom>
          <a:noFill/>
          <a:ln/>
        </p:spPr>
        <p:txBody>
          <a:bodyPr wrap="square" lIns="0" tIns="0" rIns="0" bIns="0" rtlCol="0" anchor="ctr"/>
          <a:lstStyle/>
          <a:p>
            <a:pPr indent="0" marL="0">
              <a:buNone/>
            </a:pPr>
            <a:r>
              <a:rPr lang="en-US" sz="1800" dirty="0">
                <a:solidFill>
                  <a:srgbClr val="C5DD97"/>
                </a:solidFill>
                <a:latin typeface="Courier New" pitchFamily="34" charset="0"/>
                <a:ea typeface="Courier New" pitchFamily="34" charset="-122"/>
                <a:cs typeface="Courier New" pitchFamily="34" charset="-120"/>
              </a:rPr>
              <a:t>openssl enc -aes-256-cbc -salt -in ~/SafeSurf_file.txt -out ~/SafeSurf_file.enc</a:t>
            </a:r>
            <a:endParaRPr lang="en-US" sz="1800" dirty="0"/>
          </a:p>
        </p:txBody>
      </p:sp>
      <p:sp>
        <p:nvSpPr>
          <p:cNvPr id="17" name="Shape 15"/>
          <p:cNvSpPr/>
          <p:nvPr/>
        </p:nvSpPr>
        <p:spPr>
          <a:xfrm>
            <a:off x="952805" y="6903720"/>
            <a:ext cx="16367760" cy="1097280"/>
          </a:xfrm>
          <a:prstGeom prst="roundRect">
            <a:avLst>
              <a:gd name="adj" fmla="val 6667"/>
            </a:avLst>
          </a:prstGeom>
          <a:solidFill>
            <a:srgbClr val="121212"/>
          </a:solidFill>
          <a:ln/>
        </p:spPr>
      </p:sp>
      <p:sp>
        <p:nvSpPr>
          <p:cNvPr id="18" name="Text 16"/>
          <p:cNvSpPr/>
          <p:nvPr/>
        </p:nvSpPr>
        <p:spPr>
          <a:xfrm>
            <a:off x="1280160" y="7040880"/>
            <a:ext cx="15544800" cy="27432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3. File Decryption</a:t>
            </a:r>
            <a:endParaRPr lang="en-US" sz="1600" dirty="0"/>
          </a:p>
        </p:txBody>
      </p:sp>
      <p:sp>
        <p:nvSpPr>
          <p:cNvPr id="19" name="Text 17"/>
          <p:cNvSpPr/>
          <p:nvPr/>
        </p:nvSpPr>
        <p:spPr>
          <a:xfrm>
            <a:off x="1280160" y="7360920"/>
            <a:ext cx="15544800" cy="411480"/>
          </a:xfrm>
          <a:prstGeom prst="rect">
            <a:avLst/>
          </a:prstGeom>
          <a:noFill/>
          <a:ln/>
        </p:spPr>
        <p:txBody>
          <a:bodyPr wrap="square" lIns="0" tIns="0" rIns="0" bIns="0" rtlCol="0" anchor="ctr"/>
          <a:lstStyle/>
          <a:p>
            <a:pPr indent="0" marL="0">
              <a:buNone/>
            </a:pPr>
            <a:r>
              <a:rPr lang="en-US" sz="1800" dirty="0">
                <a:solidFill>
                  <a:srgbClr val="C5DD97"/>
                </a:solidFill>
                <a:latin typeface="Courier New" pitchFamily="34" charset="0"/>
                <a:ea typeface="Courier New" pitchFamily="34" charset="-122"/>
                <a:cs typeface="Courier New" pitchFamily="34" charset="-120"/>
              </a:rPr>
              <a:t>openssl enc -d -aes-256-cbc -in ~/SafeSurf_file.enc -out ~/decrypted_file.txt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02 / TASK TWO</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05</a:t>
            </a:r>
            <a:endParaRPr lang="en-US" sz="1600" dirty="0"/>
          </a:p>
        </p:txBody>
      </p:sp>
      <p:sp>
        <p:nvSpPr>
          <p:cNvPr id="6" name="Text 4"/>
          <p:cNvSpPr/>
          <p:nvPr/>
        </p:nvSpPr>
        <p:spPr>
          <a:xfrm>
            <a:off x="952805" y="1188720"/>
            <a:ext cx="16367760" cy="457200"/>
          </a:xfrm>
          <a:prstGeom prst="rect">
            <a:avLst/>
          </a:prstGeom>
          <a:noFill/>
          <a:ln/>
        </p:spPr>
        <p:txBody>
          <a:bodyPr wrap="square" lIns="0" tIns="0" rIns="0" bIns="0" rtlCol="0" anchor="ctr"/>
          <a:lstStyle/>
          <a:p>
            <a:pPr indent="0" marL="0">
              <a:buNone/>
            </a:pPr>
            <a:r>
              <a:rPr lang="en-US" sz="2800" dirty="0">
                <a:solidFill>
                  <a:srgbClr val="ECE8E1"/>
                </a:solidFill>
                <a:latin typeface="Arial" pitchFamily="34" charset="0"/>
                <a:ea typeface="Arial" pitchFamily="34" charset="-122"/>
                <a:cs typeface="Arial" pitchFamily="34" charset="-120"/>
              </a:rPr>
              <a:t>File Content &amp; Encryption</a:t>
            </a:r>
            <a:endParaRPr lang="en-US" sz="2800" dirty="0"/>
          </a:p>
        </p:txBody>
      </p:sp>
      <p:sp>
        <p:nvSpPr>
          <p:cNvPr id="7" name="Text 5"/>
          <p:cNvSpPr/>
          <p:nvPr/>
        </p:nvSpPr>
        <p:spPr>
          <a:xfrm>
            <a:off x="952805" y="1783080"/>
            <a:ext cx="77724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SafeSurf_file.txt (Original Content)</a:t>
            </a:r>
            <a:endParaRPr lang="en-US" sz="1600" dirty="0"/>
          </a:p>
        </p:txBody>
      </p:sp>
      <p:pic>
        <p:nvPicPr>
          <p:cNvPr id="8" name="Image 0" descr="/home/workdir/artifacts/task2_file.png">    </p:cNvPr>
          <p:cNvPicPr>
            <a:picLocks noChangeAspect="1"/>
          </p:cNvPicPr>
          <p:nvPr/>
        </p:nvPicPr>
        <p:blipFill>
          <a:blip r:embed="rId1"/>
          <a:stretch>
            <a:fillRect/>
          </a:stretch>
        </p:blipFill>
        <p:spPr>
          <a:xfrm>
            <a:off x="952805" y="2148840"/>
            <a:ext cx="7955280" cy="6217920"/>
          </a:xfrm>
          <a:prstGeom prst="rect">
            <a:avLst/>
          </a:prstGeom>
        </p:spPr>
      </p:pic>
      <p:sp>
        <p:nvSpPr>
          <p:cNvPr id="9" name="Text 6"/>
          <p:cNvSpPr/>
          <p:nvPr/>
        </p:nvSpPr>
        <p:spPr>
          <a:xfrm>
            <a:off x="9418320" y="1783080"/>
            <a:ext cx="7772400" cy="320040"/>
          </a:xfrm>
          <a:prstGeom prst="rect">
            <a:avLst/>
          </a:prstGeom>
          <a:noFill/>
          <a:ln/>
        </p:spPr>
        <p:txBody>
          <a:bodyPr wrap="square" lIns="0" tIns="0" rIns="0" bIns="0" rtlCol="0" anchor="ctr"/>
          <a:lstStyle/>
          <a:p>
            <a:pPr indent="0" marL="0">
              <a:buNone/>
            </a:pPr>
            <a:r>
              <a:rPr lang="en-US" sz="1600" dirty="0">
                <a:solidFill>
                  <a:srgbClr val="6B6760"/>
                </a:solidFill>
                <a:latin typeface="Arial" pitchFamily="34" charset="0"/>
                <a:ea typeface="Arial" pitchFamily="34" charset="-122"/>
                <a:cs typeface="Arial" pitchFamily="34" charset="-120"/>
              </a:rPr>
              <a:t>OpenSSL Encryption (AES-256-CBC)</a:t>
            </a:r>
            <a:endParaRPr lang="en-US" sz="1600" dirty="0"/>
          </a:p>
        </p:txBody>
      </p:sp>
      <p:pic>
        <p:nvPicPr>
          <p:cNvPr id="10" name="Image 1" descr="/home/workdir/artifacts/task2_encrypt.png">    </p:cNvPr>
          <p:cNvPicPr>
            <a:picLocks noChangeAspect="1"/>
          </p:cNvPicPr>
          <p:nvPr/>
        </p:nvPicPr>
        <p:blipFill>
          <a:blip r:embed="rId2"/>
          <a:stretch>
            <a:fillRect/>
          </a:stretch>
        </p:blipFill>
        <p:spPr>
          <a:xfrm>
            <a:off x="9418320" y="2148840"/>
            <a:ext cx="7955280" cy="6217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02 / TASK TWO</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06</a:t>
            </a:r>
            <a:endParaRPr lang="en-US" sz="1600" dirty="0"/>
          </a:p>
        </p:txBody>
      </p:sp>
      <p:sp>
        <p:nvSpPr>
          <p:cNvPr id="6" name="Text 4"/>
          <p:cNvSpPr/>
          <p:nvPr/>
        </p:nvSpPr>
        <p:spPr>
          <a:xfrm>
            <a:off x="952805" y="1188720"/>
            <a:ext cx="16367760" cy="457200"/>
          </a:xfrm>
          <a:prstGeom prst="rect">
            <a:avLst/>
          </a:prstGeom>
          <a:noFill/>
          <a:ln/>
        </p:spPr>
        <p:txBody>
          <a:bodyPr wrap="square" lIns="0" tIns="0" rIns="0" bIns="0" rtlCol="0" anchor="ctr"/>
          <a:lstStyle/>
          <a:p>
            <a:pPr indent="0" marL="0">
              <a:buNone/>
            </a:pPr>
            <a:r>
              <a:rPr lang="en-US" sz="2800" dirty="0">
                <a:solidFill>
                  <a:srgbClr val="ECE8E1"/>
                </a:solidFill>
                <a:latin typeface="Arial" pitchFamily="34" charset="0"/>
                <a:ea typeface="Arial" pitchFamily="34" charset="-122"/>
                <a:cs typeface="Arial" pitchFamily="34" charset="-120"/>
              </a:rPr>
              <a:t>Decryption Result &amp; Concept</a:t>
            </a:r>
            <a:endParaRPr lang="en-US" sz="2800" dirty="0"/>
          </a:p>
        </p:txBody>
      </p:sp>
      <p:pic>
        <p:nvPicPr>
          <p:cNvPr id="7" name="Image 0" descr="/home/workdir/artifacts/task2_decrypt.png">    </p:cNvPr>
          <p:cNvPicPr>
            <a:picLocks noChangeAspect="1"/>
          </p:cNvPicPr>
          <p:nvPr/>
        </p:nvPicPr>
        <p:blipFill>
          <a:blip r:embed="rId1"/>
          <a:stretch>
            <a:fillRect/>
          </a:stretch>
        </p:blipFill>
        <p:spPr>
          <a:xfrm>
            <a:off x="952805" y="1828800"/>
            <a:ext cx="9601200" cy="6858000"/>
          </a:xfrm>
          <a:prstGeom prst="rect">
            <a:avLst/>
          </a:prstGeom>
        </p:spPr>
      </p:pic>
      <p:sp>
        <p:nvSpPr>
          <p:cNvPr id="8" name="Shape 5"/>
          <p:cNvSpPr/>
          <p:nvPr/>
        </p:nvSpPr>
        <p:spPr>
          <a:xfrm>
            <a:off x="10881360" y="1828800"/>
            <a:ext cx="6400800" cy="6858000"/>
          </a:xfrm>
          <a:prstGeom prst="roundRect">
            <a:avLst>
              <a:gd name="adj" fmla="val 1429"/>
            </a:avLst>
          </a:prstGeom>
          <a:solidFill>
            <a:srgbClr val="121212"/>
          </a:solidFill>
          <a:ln/>
        </p:spPr>
      </p:sp>
      <p:sp>
        <p:nvSpPr>
          <p:cNvPr id="9" name="Text 6"/>
          <p:cNvSpPr/>
          <p:nvPr/>
        </p:nvSpPr>
        <p:spPr>
          <a:xfrm>
            <a:off x="11247120" y="2194560"/>
            <a:ext cx="5669280" cy="365760"/>
          </a:xfrm>
          <a:prstGeom prst="rect">
            <a:avLst/>
          </a:prstGeom>
          <a:noFill/>
          <a:ln/>
        </p:spPr>
        <p:txBody>
          <a:bodyPr wrap="square" lIns="0" tIns="0" rIns="0" bIns="0" rtlCol="0" anchor="ctr"/>
          <a:lstStyle/>
          <a:p>
            <a:pPr indent="0" marL="0">
              <a:buNone/>
            </a:pPr>
            <a:r>
              <a:rPr lang="en-US" sz="2000" dirty="0">
                <a:solidFill>
                  <a:srgbClr val="ECE8E1"/>
                </a:solidFill>
                <a:latin typeface="Arial" pitchFamily="34" charset="0"/>
                <a:ea typeface="Arial" pitchFamily="34" charset="-122"/>
                <a:cs typeface="Arial" pitchFamily="34" charset="-120"/>
              </a:rPr>
              <a:t>Concept</a:t>
            </a:r>
            <a:endParaRPr lang="en-US" sz="2000" dirty="0"/>
          </a:p>
        </p:txBody>
      </p:sp>
      <p:sp>
        <p:nvSpPr>
          <p:cNvPr id="10" name="Text 7"/>
          <p:cNvSpPr/>
          <p:nvPr/>
        </p:nvSpPr>
        <p:spPr>
          <a:xfrm>
            <a:off x="11247120" y="2834640"/>
            <a:ext cx="5669280" cy="2286000"/>
          </a:xfrm>
          <a:prstGeom prst="rect">
            <a:avLst/>
          </a:prstGeom>
          <a:noFill/>
          <a:ln/>
        </p:spPr>
        <p:txBody>
          <a:bodyPr wrap="square" lIns="0" tIns="0" rIns="0" bIns="0" rtlCol="0" anchor="ctr"/>
          <a:lstStyle/>
          <a:p>
            <a:pPr indent="0" marL="0">
              <a:buNone/>
            </a:pPr>
            <a:r>
              <a:rPr lang="en-US" sz="1800" dirty="0">
                <a:solidFill>
                  <a:srgbClr val="A8A49B"/>
                </a:solidFill>
                <a:latin typeface="Arial" pitchFamily="34" charset="0"/>
                <a:ea typeface="Arial" pitchFamily="34" charset="-122"/>
                <a:cs typeface="Arial" pitchFamily="34" charset="-120"/>
              </a:rPr>
              <a:t>OpenSSL uses the AES-256-CBC algorithm along with a user-defined passphrase to transform the contents of “SafeSurf_file.txt” into a secure binary ciphertext file (“SafeSurf_file.enc”).</a:t>
            </a:r>
            <a:endParaRPr lang="en-US" sz="1800" dirty="0"/>
          </a:p>
        </p:txBody>
      </p:sp>
      <p:sp>
        <p:nvSpPr>
          <p:cNvPr id="11" name="Text 8"/>
          <p:cNvSpPr/>
          <p:nvPr/>
        </p:nvSpPr>
        <p:spPr>
          <a:xfrm>
            <a:off x="11247120" y="5303520"/>
            <a:ext cx="5669280" cy="2560320"/>
          </a:xfrm>
          <a:prstGeom prst="rect">
            <a:avLst/>
          </a:prstGeom>
          <a:noFill/>
          <a:ln/>
        </p:spPr>
        <p:txBody>
          <a:bodyPr wrap="square" lIns="0" tIns="0" rIns="0" bIns="0" rtlCol="0" anchor="ctr"/>
          <a:lstStyle/>
          <a:p>
            <a:pPr indent="0" marL="0">
              <a:buNone/>
            </a:pPr>
            <a:r>
              <a:rPr lang="en-US" sz="1800" dirty="0">
                <a:solidFill>
                  <a:srgbClr val="A8A49B"/>
                </a:solidFill>
                <a:latin typeface="Arial" pitchFamily="34" charset="0"/>
                <a:ea typeface="Arial" pitchFamily="34" charset="-122"/>
                <a:cs typeface="Arial" pitchFamily="34" charset="-120"/>
              </a:rPr>
              <a:t>Decryption reverses this process using the same passphrase to ensure confidentiality. The original multi-line text was fully restored, confirming the integrity of the encryption workflow.</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03 / TASK THREE</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07</a:t>
            </a:r>
            <a:endParaRPr lang="en-US" sz="1600" dirty="0"/>
          </a:p>
        </p:txBody>
      </p:sp>
      <p:sp>
        <p:nvSpPr>
          <p:cNvPr id="6" name="Text 4"/>
          <p:cNvSpPr/>
          <p:nvPr/>
        </p:nvSpPr>
        <p:spPr>
          <a:xfrm>
            <a:off x="952805" y="1188720"/>
            <a:ext cx="16367760" cy="502920"/>
          </a:xfrm>
          <a:prstGeom prst="rect">
            <a:avLst/>
          </a:prstGeom>
          <a:noFill/>
          <a:ln/>
        </p:spPr>
        <p:txBody>
          <a:bodyPr wrap="square" lIns="0" tIns="0" rIns="0" bIns="0" rtlCol="0" anchor="ctr"/>
          <a:lstStyle/>
          <a:p>
            <a:pPr indent="0" marL="0">
              <a:buNone/>
            </a:pPr>
            <a:r>
              <a:rPr lang="en-US" sz="3000" dirty="0">
                <a:solidFill>
                  <a:srgbClr val="ECE8E1"/>
                </a:solidFill>
                <a:latin typeface="Arial" pitchFamily="34" charset="0"/>
                <a:ea typeface="Arial" pitchFamily="34" charset="-122"/>
                <a:cs typeface="Arial" pitchFamily="34" charset="-120"/>
              </a:rPr>
              <a:t>Generating File Hash using OpenSSL (SHA-256)</a:t>
            </a:r>
            <a:endParaRPr lang="en-US" sz="3000" dirty="0"/>
          </a:p>
        </p:txBody>
      </p:sp>
      <p:sp>
        <p:nvSpPr>
          <p:cNvPr id="7" name="Shape 5"/>
          <p:cNvSpPr/>
          <p:nvPr/>
        </p:nvSpPr>
        <p:spPr>
          <a:xfrm>
            <a:off x="952805" y="1828800"/>
            <a:ext cx="16367760" cy="9144"/>
          </a:xfrm>
          <a:prstGeom prst="rect">
            <a:avLst/>
          </a:prstGeom>
          <a:solidFill>
            <a:srgbClr val="2A2A28"/>
          </a:solidFill>
          <a:ln/>
        </p:spPr>
      </p:sp>
      <p:sp>
        <p:nvSpPr>
          <p:cNvPr id="8" name="Text 6"/>
          <p:cNvSpPr/>
          <p:nvPr/>
        </p:nvSpPr>
        <p:spPr>
          <a:xfrm>
            <a:off x="952805" y="2103120"/>
            <a:ext cx="7315200" cy="320040"/>
          </a:xfrm>
          <a:prstGeom prst="rect">
            <a:avLst/>
          </a:prstGeom>
          <a:noFill/>
          <a:ln/>
        </p:spPr>
        <p:txBody>
          <a:bodyPr wrap="square" lIns="0" tIns="0" rIns="0" bIns="0" rtlCol="0" anchor="ctr"/>
          <a:lstStyle/>
          <a:p>
            <a:pPr indent="0" marL="0">
              <a:buNone/>
            </a:pPr>
            <a:r>
              <a:rPr lang="en-US" sz="1800" dirty="0">
                <a:solidFill>
                  <a:srgbClr val="6B6760"/>
                </a:solidFill>
                <a:latin typeface="Arial" pitchFamily="34" charset="0"/>
                <a:ea typeface="Arial" pitchFamily="34" charset="-122"/>
                <a:cs typeface="Arial" pitchFamily="34" charset="-120"/>
              </a:rPr>
              <a:t>Overview</a:t>
            </a:r>
            <a:endParaRPr lang="en-US" sz="1800" dirty="0"/>
          </a:p>
        </p:txBody>
      </p:sp>
      <p:sp>
        <p:nvSpPr>
          <p:cNvPr id="9" name="Text 7"/>
          <p:cNvSpPr/>
          <p:nvPr/>
        </p:nvSpPr>
        <p:spPr>
          <a:xfrm>
            <a:off x="952805" y="2514600"/>
            <a:ext cx="7772400" cy="1188720"/>
          </a:xfrm>
          <a:prstGeom prst="rect">
            <a:avLst/>
          </a:prstGeom>
          <a:noFill/>
          <a:ln/>
        </p:spPr>
        <p:txBody>
          <a:bodyPr wrap="square" lIns="0" tIns="0" rIns="0" bIns="0" rtlCol="0" anchor="ctr"/>
          <a:lstStyle/>
          <a:p>
            <a:pPr indent="0" marL="0">
              <a:buNone/>
            </a:pPr>
            <a:r>
              <a:rPr lang="en-US" sz="1800" dirty="0">
                <a:solidFill>
                  <a:srgbClr val="A8A49B"/>
                </a:solidFill>
                <a:latin typeface="Arial" pitchFamily="34" charset="0"/>
                <a:ea typeface="Arial" pitchFamily="34" charset="-122"/>
                <a:cs typeface="Arial" pitchFamily="34" charset="-120"/>
              </a:rPr>
              <a:t>A cryptographic hash of the multi-line file “SafeSurf_file.txt” was generated using the SHA-256 hashing algorithm via OpenSSL.</a:t>
            </a:r>
            <a:endParaRPr lang="en-US" sz="1800" dirty="0"/>
          </a:p>
        </p:txBody>
      </p:sp>
      <p:sp>
        <p:nvSpPr>
          <p:cNvPr id="10" name="Text 8"/>
          <p:cNvSpPr/>
          <p:nvPr/>
        </p:nvSpPr>
        <p:spPr>
          <a:xfrm>
            <a:off x="952805" y="3840480"/>
            <a:ext cx="7315200" cy="320040"/>
          </a:xfrm>
          <a:prstGeom prst="rect">
            <a:avLst/>
          </a:prstGeom>
          <a:noFill/>
          <a:ln/>
        </p:spPr>
        <p:txBody>
          <a:bodyPr wrap="square" lIns="0" tIns="0" rIns="0" bIns="0" rtlCol="0" anchor="ctr"/>
          <a:lstStyle/>
          <a:p>
            <a:pPr indent="0" marL="0">
              <a:buNone/>
            </a:pPr>
            <a:r>
              <a:rPr lang="en-US" sz="1800" dirty="0">
                <a:solidFill>
                  <a:srgbClr val="6B6760"/>
                </a:solidFill>
                <a:latin typeface="Arial" pitchFamily="34" charset="0"/>
                <a:ea typeface="Arial" pitchFamily="34" charset="-122"/>
                <a:cs typeface="Arial" pitchFamily="34" charset="-120"/>
              </a:rPr>
              <a:t>Command</a:t>
            </a:r>
            <a:endParaRPr lang="en-US" sz="1800" dirty="0"/>
          </a:p>
        </p:txBody>
      </p:sp>
      <p:sp>
        <p:nvSpPr>
          <p:cNvPr id="11" name="Shape 9"/>
          <p:cNvSpPr/>
          <p:nvPr/>
        </p:nvSpPr>
        <p:spPr>
          <a:xfrm>
            <a:off x="952805" y="4251960"/>
            <a:ext cx="7772400" cy="914400"/>
          </a:xfrm>
          <a:prstGeom prst="roundRect">
            <a:avLst>
              <a:gd name="adj" fmla="val 8000"/>
            </a:avLst>
          </a:prstGeom>
          <a:solidFill>
            <a:srgbClr val="121212"/>
          </a:solidFill>
          <a:ln/>
        </p:spPr>
      </p:sp>
      <p:sp>
        <p:nvSpPr>
          <p:cNvPr id="12" name="Text 10"/>
          <p:cNvSpPr/>
          <p:nvPr/>
        </p:nvSpPr>
        <p:spPr>
          <a:xfrm>
            <a:off x="1188720" y="4480560"/>
            <a:ext cx="7315200" cy="457200"/>
          </a:xfrm>
          <a:prstGeom prst="rect">
            <a:avLst/>
          </a:prstGeom>
          <a:noFill/>
          <a:ln/>
        </p:spPr>
        <p:txBody>
          <a:bodyPr wrap="square" lIns="0" tIns="0" rIns="0" bIns="0" rtlCol="0" anchor="ctr"/>
          <a:lstStyle/>
          <a:p>
            <a:pPr indent="0" marL="0">
              <a:buNone/>
            </a:pPr>
            <a:r>
              <a:rPr lang="en-US" sz="1800" dirty="0">
                <a:solidFill>
                  <a:srgbClr val="C5DD97"/>
                </a:solidFill>
                <a:latin typeface="Courier New" pitchFamily="34" charset="0"/>
                <a:ea typeface="Courier New" pitchFamily="34" charset="-122"/>
                <a:cs typeface="Courier New" pitchFamily="34" charset="-120"/>
              </a:rPr>
              <a:t>openssl dgst -sha256 ~/SafeSurf_file.txt</a:t>
            </a:r>
            <a:endParaRPr lang="en-US" sz="1800" dirty="0"/>
          </a:p>
        </p:txBody>
      </p:sp>
      <p:sp>
        <p:nvSpPr>
          <p:cNvPr id="13" name="Text 11"/>
          <p:cNvSpPr/>
          <p:nvPr/>
        </p:nvSpPr>
        <p:spPr>
          <a:xfrm>
            <a:off x="952805" y="5486400"/>
            <a:ext cx="7772400" cy="365760"/>
          </a:xfrm>
          <a:prstGeom prst="rect">
            <a:avLst/>
          </a:prstGeom>
          <a:noFill/>
          <a:ln/>
        </p:spPr>
        <p:txBody>
          <a:bodyPr wrap="square" lIns="0" tIns="0" rIns="0" bIns="0" rtlCol="0" anchor="ctr"/>
          <a:lstStyle/>
          <a:p>
            <a:pPr indent="0" marL="0">
              <a:buNone/>
            </a:pPr>
            <a:r>
              <a:rPr lang="en-US" sz="1800" dirty="0">
                <a:solidFill>
                  <a:srgbClr val="6B6760"/>
                </a:solidFill>
                <a:latin typeface="Arial" pitchFamily="34" charset="0"/>
                <a:ea typeface="Arial" pitchFamily="34" charset="-122"/>
                <a:cs typeface="Arial" pitchFamily="34" charset="-120"/>
              </a:rPr>
              <a:t>Concept &amp; Explanation</a:t>
            </a:r>
            <a:endParaRPr lang="en-US" sz="1800" dirty="0"/>
          </a:p>
        </p:txBody>
      </p:sp>
      <p:sp>
        <p:nvSpPr>
          <p:cNvPr id="14" name="Text 12"/>
          <p:cNvSpPr/>
          <p:nvPr/>
        </p:nvSpPr>
        <p:spPr>
          <a:xfrm>
            <a:off x="952805" y="5943600"/>
            <a:ext cx="7772400" cy="2286000"/>
          </a:xfrm>
          <a:prstGeom prst="rect">
            <a:avLst/>
          </a:prstGeom>
          <a:noFill/>
          <a:ln/>
        </p:spPr>
        <p:txBody>
          <a:bodyPr wrap="square" lIns="0" tIns="0" rIns="0" bIns="0" rtlCol="0" anchor="ctr"/>
          <a:lstStyle/>
          <a:p>
            <a:pPr indent="0" marL="0">
              <a:buNone/>
            </a:pPr>
            <a:r>
              <a:rPr lang="en-US" sz="1700" dirty="0">
                <a:solidFill>
                  <a:srgbClr val="A8A49B"/>
                </a:solidFill>
                <a:latin typeface="Arial" pitchFamily="34" charset="0"/>
                <a:ea typeface="Arial" pitchFamily="34" charset="-122"/>
                <a:cs typeface="Arial" pitchFamily="34" charset="-120"/>
              </a:rPr>
              <a:t>A cryptographic hash is a one-way mathematical function that generates a fixed-length unique fingerprint (digest) of the file. Hashing is non-reversible (unlike encryption). It is used to verify Data Integrity: if even a single character inside the file is modified, the resulting SHA-256 hash output will change completely.</a:t>
            </a:r>
            <a:endParaRPr lang="en-US" sz="1700" dirty="0"/>
          </a:p>
        </p:txBody>
      </p:sp>
      <p:pic>
        <p:nvPicPr>
          <p:cNvPr id="15" name="Image 0" descr="/home/workdir/artifacts/task3_hash.png">    </p:cNvPr>
          <p:cNvPicPr>
            <a:picLocks noChangeAspect="1"/>
          </p:cNvPicPr>
          <p:nvPr/>
        </p:nvPicPr>
        <p:blipFill>
          <a:blip r:embed="rId1"/>
          <a:stretch>
            <a:fillRect/>
          </a:stretch>
        </p:blipFill>
        <p:spPr>
          <a:xfrm>
            <a:off x="9144000" y="2103120"/>
            <a:ext cx="8229600" cy="6217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2805" y="533095"/>
            <a:ext cx="3200400" cy="358445"/>
          </a:xfrm>
          <a:prstGeom prst="rect">
            <a:avLst/>
          </a:prstGeom>
          <a:noFill/>
          <a:ln/>
        </p:spPr>
        <p:txBody>
          <a:bodyPr wrap="square" lIns="0" tIns="0" rIns="0" bIns="0" rtlCol="0" anchor="t"/>
          <a:lstStyle/>
          <a:p>
            <a:pPr algn="l" indent="0" marL="0">
              <a:buNone/>
            </a:pPr>
            <a:r>
              <a:rPr lang="en-US" sz="1800" spc="324" kern="0" dirty="0">
                <a:solidFill>
                  <a:srgbClr val="ECE8E1"/>
                </a:solidFill>
                <a:latin typeface="Arial" pitchFamily="34" charset="0"/>
                <a:ea typeface="Arial" pitchFamily="34" charset="-122"/>
                <a:cs typeface="Arial" pitchFamily="34" charset="-120"/>
              </a:rPr>
              <a:t>CRYPTOGRAPHY</a:t>
            </a:r>
            <a:endParaRPr lang="en-US" sz="1800" dirty="0"/>
          </a:p>
        </p:txBody>
      </p:sp>
      <p:sp>
        <p:nvSpPr>
          <p:cNvPr id="3" name="Text 1"/>
          <p:cNvSpPr/>
          <p:nvPr/>
        </p:nvSpPr>
        <p:spPr>
          <a:xfrm>
            <a:off x="11887200" y="533095"/>
            <a:ext cx="5486400" cy="358445"/>
          </a:xfrm>
          <a:prstGeom prst="rect">
            <a:avLst/>
          </a:prstGeom>
          <a:noFill/>
          <a:ln/>
        </p:spPr>
        <p:txBody>
          <a:bodyPr wrap="square" lIns="0" tIns="0" rIns="0" bIns="0" rtlCol="0" anchor="t"/>
          <a:lstStyle/>
          <a:p>
            <a:pPr algn="r" indent="0" marL="0">
              <a:buNone/>
            </a:pPr>
            <a:r>
              <a:rPr lang="en-US" sz="1800" spc="216" kern="0" dirty="0">
                <a:solidFill>
                  <a:srgbClr val="A8A49B"/>
                </a:solidFill>
                <a:latin typeface="Arial" pitchFamily="34" charset="0"/>
                <a:ea typeface="Arial" pitchFamily="34" charset="-122"/>
                <a:cs typeface="Arial" pitchFamily="34" charset="-120"/>
              </a:rPr>
              <a:t>TOOL / OPENSSL</a:t>
            </a:r>
            <a:endParaRPr lang="en-US" sz="1800" dirty="0"/>
          </a:p>
        </p:txBody>
      </p:sp>
      <p:sp>
        <p:nvSpPr>
          <p:cNvPr id="4" name="Text 2"/>
          <p:cNvSpPr/>
          <p:nvPr/>
        </p:nvSpPr>
        <p:spPr>
          <a:xfrm>
            <a:off x="952805" y="9433865"/>
            <a:ext cx="2286000" cy="358445"/>
          </a:xfrm>
          <a:prstGeom prst="rect">
            <a:avLst/>
          </a:prstGeom>
          <a:noFill/>
          <a:ln/>
        </p:spPr>
        <p:txBody>
          <a:bodyPr wrap="square" lIns="0" tIns="0" rIns="0" bIns="0" rtlCol="0" anchor="t"/>
          <a:lstStyle/>
          <a:p>
            <a:pPr algn="l" indent="0" marL="0">
              <a:buNone/>
            </a:pPr>
            <a:r>
              <a:rPr lang="en-US" sz="1600" spc="252" kern="0" dirty="0">
                <a:solidFill>
                  <a:srgbClr val="6B6760"/>
                </a:solidFill>
                <a:latin typeface="Arial" pitchFamily="34" charset="0"/>
                <a:ea typeface="Arial" pitchFamily="34" charset="-122"/>
                <a:cs typeface="Arial" pitchFamily="34" charset="-120"/>
              </a:rPr>
              <a:t>KARIM HAMD</a:t>
            </a:r>
            <a:endParaRPr lang="en-US" sz="1600" dirty="0"/>
          </a:p>
        </p:txBody>
      </p:sp>
      <p:sp>
        <p:nvSpPr>
          <p:cNvPr id="5" name="Text 3"/>
          <p:cNvSpPr/>
          <p:nvPr/>
        </p:nvSpPr>
        <p:spPr>
          <a:xfrm>
            <a:off x="16002000" y="9433865"/>
            <a:ext cx="1371600" cy="358445"/>
          </a:xfrm>
          <a:prstGeom prst="rect">
            <a:avLst/>
          </a:prstGeom>
          <a:noFill/>
          <a:ln/>
        </p:spPr>
        <p:txBody>
          <a:bodyPr wrap="square" lIns="0" tIns="0" rIns="0" bIns="0" rtlCol="0" anchor="t"/>
          <a:lstStyle/>
          <a:p>
            <a:pPr algn="r" indent="0" marL="0">
              <a:buNone/>
            </a:pPr>
            <a:r>
              <a:rPr lang="en-US" sz="1600" spc="252" kern="0" dirty="0">
                <a:solidFill>
                  <a:srgbClr val="6B6760"/>
                </a:solidFill>
                <a:latin typeface="Arial" pitchFamily="34" charset="0"/>
                <a:ea typeface="Arial" pitchFamily="34" charset="-122"/>
                <a:cs typeface="Arial" pitchFamily="34" charset="-120"/>
              </a:rPr>
              <a:t>08</a:t>
            </a:r>
            <a:endParaRPr lang="en-US" sz="1600" dirty="0"/>
          </a:p>
        </p:txBody>
      </p:sp>
      <p:sp>
        <p:nvSpPr>
          <p:cNvPr id="6" name="Text 4"/>
          <p:cNvSpPr/>
          <p:nvPr/>
        </p:nvSpPr>
        <p:spPr>
          <a:xfrm>
            <a:off x="952805" y="1280160"/>
            <a:ext cx="16367760" cy="548640"/>
          </a:xfrm>
          <a:prstGeom prst="rect">
            <a:avLst/>
          </a:prstGeom>
          <a:noFill/>
          <a:ln/>
        </p:spPr>
        <p:txBody>
          <a:bodyPr wrap="square" lIns="0" tIns="0" rIns="0" bIns="0" rtlCol="0" anchor="ctr"/>
          <a:lstStyle/>
          <a:p>
            <a:pPr indent="0" marL="0">
              <a:buNone/>
            </a:pPr>
            <a:r>
              <a:rPr lang="en-US" sz="3400" dirty="0">
                <a:solidFill>
                  <a:srgbClr val="ECE8E1"/>
                </a:solidFill>
                <a:latin typeface="Arial" pitchFamily="34" charset="0"/>
                <a:ea typeface="Arial" pitchFamily="34" charset="-122"/>
                <a:cs typeface="Arial" pitchFamily="34" charset="-120"/>
              </a:rPr>
              <a:t>Tool Description: OpenSSL</a:t>
            </a:r>
            <a:endParaRPr lang="en-US" sz="3400" dirty="0"/>
          </a:p>
        </p:txBody>
      </p:sp>
      <p:sp>
        <p:nvSpPr>
          <p:cNvPr id="7" name="Shape 5"/>
          <p:cNvSpPr/>
          <p:nvPr/>
        </p:nvSpPr>
        <p:spPr>
          <a:xfrm>
            <a:off x="952805" y="1965960"/>
            <a:ext cx="16367760" cy="9144"/>
          </a:xfrm>
          <a:prstGeom prst="rect">
            <a:avLst/>
          </a:prstGeom>
          <a:solidFill>
            <a:srgbClr val="2A2A28"/>
          </a:solidFill>
          <a:ln/>
        </p:spPr>
      </p:sp>
      <p:sp>
        <p:nvSpPr>
          <p:cNvPr id="8" name="Text 6"/>
          <p:cNvSpPr/>
          <p:nvPr/>
        </p:nvSpPr>
        <p:spPr>
          <a:xfrm>
            <a:off x="952805" y="2286000"/>
            <a:ext cx="16367760" cy="365760"/>
          </a:xfrm>
          <a:prstGeom prst="rect">
            <a:avLst/>
          </a:prstGeom>
          <a:noFill/>
          <a:ln/>
        </p:spPr>
        <p:txBody>
          <a:bodyPr wrap="square" lIns="0" tIns="0" rIns="0" bIns="0" rtlCol="0" anchor="ctr"/>
          <a:lstStyle/>
          <a:p>
            <a:pPr indent="0" marL="0">
              <a:buNone/>
            </a:pPr>
            <a:r>
              <a:rPr lang="en-US" sz="2200" dirty="0">
                <a:solidFill>
                  <a:srgbClr val="6B6760"/>
                </a:solidFill>
                <a:latin typeface="Arial" pitchFamily="34" charset="0"/>
                <a:ea typeface="Arial" pitchFamily="34" charset="-122"/>
                <a:cs typeface="Arial" pitchFamily="34" charset="-120"/>
              </a:rPr>
              <a:t>What is OpenSSL?</a:t>
            </a:r>
            <a:endParaRPr lang="en-US" sz="2200" dirty="0"/>
          </a:p>
        </p:txBody>
      </p:sp>
      <p:sp>
        <p:nvSpPr>
          <p:cNvPr id="9" name="Text 7"/>
          <p:cNvSpPr/>
          <p:nvPr/>
        </p:nvSpPr>
        <p:spPr>
          <a:xfrm>
            <a:off x="952805" y="2788920"/>
            <a:ext cx="16367760" cy="1463040"/>
          </a:xfrm>
          <a:prstGeom prst="rect">
            <a:avLst/>
          </a:prstGeom>
          <a:noFill/>
          <a:ln/>
        </p:spPr>
        <p:txBody>
          <a:bodyPr wrap="square" lIns="0" tIns="0" rIns="0" bIns="0" rtlCol="0" anchor="ctr"/>
          <a:lstStyle/>
          <a:p>
            <a:pPr indent="0" marL="0">
              <a:buNone/>
            </a:pPr>
            <a:r>
              <a:rPr lang="en-US" sz="2000" dirty="0">
                <a:solidFill>
                  <a:srgbClr val="A8A49B"/>
                </a:solidFill>
                <a:latin typeface="Arial" pitchFamily="34" charset="0"/>
                <a:ea typeface="Arial" pitchFamily="34" charset="-122"/>
                <a:cs typeface="Arial" pitchFamily="34" charset="-120"/>
              </a:rPr>
              <a:t>OpenSSL is a robust, commercial-grade, and full-featured toolkit for the Transport Layer Security (TLS) and Secure Sockets Layer (SSL) protocols. It is widely used in Linux distributions (such as Kali Linux) for various cryptographic tasks, including file encryption, decryption, generation of digital signatures, and cryptographic hashing.</a:t>
            </a:r>
            <a:endParaRPr lang="en-US" sz="2000" dirty="0"/>
          </a:p>
        </p:txBody>
      </p:sp>
      <p:sp>
        <p:nvSpPr>
          <p:cNvPr id="10" name="Text 8"/>
          <p:cNvSpPr/>
          <p:nvPr/>
        </p:nvSpPr>
        <p:spPr>
          <a:xfrm>
            <a:off x="952805" y="4480560"/>
            <a:ext cx="16367760" cy="365760"/>
          </a:xfrm>
          <a:prstGeom prst="rect">
            <a:avLst/>
          </a:prstGeom>
          <a:noFill/>
          <a:ln/>
        </p:spPr>
        <p:txBody>
          <a:bodyPr wrap="square" lIns="0" tIns="0" rIns="0" bIns="0" rtlCol="0" anchor="ctr"/>
          <a:lstStyle/>
          <a:p>
            <a:pPr indent="0" marL="0">
              <a:buNone/>
            </a:pPr>
            <a:r>
              <a:rPr lang="en-US" sz="2200" dirty="0">
                <a:solidFill>
                  <a:srgbClr val="6B6760"/>
                </a:solidFill>
                <a:latin typeface="Arial" pitchFamily="34" charset="0"/>
                <a:ea typeface="Arial" pitchFamily="34" charset="-122"/>
                <a:cs typeface="Arial" pitchFamily="34" charset="-120"/>
              </a:rPr>
              <a:t>Role in this Activity</a:t>
            </a:r>
            <a:endParaRPr lang="en-US" sz="2200" dirty="0"/>
          </a:p>
        </p:txBody>
      </p:sp>
      <p:sp>
        <p:nvSpPr>
          <p:cNvPr id="11" name="Shape 9"/>
          <p:cNvSpPr/>
          <p:nvPr/>
        </p:nvSpPr>
        <p:spPr>
          <a:xfrm>
            <a:off x="952805" y="5029200"/>
            <a:ext cx="7772400" cy="3200400"/>
          </a:xfrm>
          <a:prstGeom prst="roundRect">
            <a:avLst>
              <a:gd name="adj" fmla="val 2857"/>
            </a:avLst>
          </a:prstGeom>
          <a:solidFill>
            <a:srgbClr val="121212"/>
          </a:solidFill>
          <a:ln/>
        </p:spPr>
      </p:sp>
      <p:sp>
        <p:nvSpPr>
          <p:cNvPr id="12" name="Text 10"/>
          <p:cNvSpPr/>
          <p:nvPr/>
        </p:nvSpPr>
        <p:spPr>
          <a:xfrm>
            <a:off x="1280160" y="5303520"/>
            <a:ext cx="1828800" cy="45720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Arial" pitchFamily="34" charset="-122"/>
                <a:cs typeface="Arial" pitchFamily="34" charset="-120"/>
              </a:rPr>
              <a:t>01</a:t>
            </a:r>
            <a:endParaRPr lang="en-US" sz="2800" dirty="0"/>
          </a:p>
        </p:txBody>
      </p:sp>
      <p:sp>
        <p:nvSpPr>
          <p:cNvPr id="13" name="Text 11"/>
          <p:cNvSpPr/>
          <p:nvPr/>
        </p:nvSpPr>
        <p:spPr>
          <a:xfrm>
            <a:off x="1280160" y="5852160"/>
            <a:ext cx="6858000" cy="548640"/>
          </a:xfrm>
          <a:prstGeom prst="rect">
            <a:avLst/>
          </a:prstGeom>
          <a:noFill/>
          <a:ln/>
        </p:spPr>
        <p:txBody>
          <a:bodyPr wrap="square" lIns="0" tIns="0" rIns="0" bIns="0" rtlCol="0" anchor="ctr"/>
          <a:lstStyle/>
          <a:p>
            <a:pPr indent="0" marL="0">
              <a:buNone/>
            </a:pPr>
            <a:r>
              <a:rPr lang="en-US" sz="2000" dirty="0">
                <a:solidFill>
                  <a:srgbClr val="ECE8E1"/>
                </a:solidFill>
                <a:latin typeface="Arial" pitchFamily="34" charset="0"/>
                <a:ea typeface="Arial" pitchFamily="34" charset="-122"/>
                <a:cs typeface="Arial" pitchFamily="34" charset="-120"/>
              </a:rPr>
              <a:t>Symmetric File Encryption &amp; Decryption</a:t>
            </a:r>
            <a:endParaRPr lang="en-US" sz="2000" dirty="0"/>
          </a:p>
        </p:txBody>
      </p:sp>
      <p:sp>
        <p:nvSpPr>
          <p:cNvPr id="14" name="Text 12"/>
          <p:cNvSpPr/>
          <p:nvPr/>
        </p:nvSpPr>
        <p:spPr>
          <a:xfrm>
            <a:off x="1280160" y="6583680"/>
            <a:ext cx="6858000" cy="1280160"/>
          </a:xfrm>
          <a:prstGeom prst="rect">
            <a:avLst/>
          </a:prstGeom>
          <a:noFill/>
          <a:ln/>
        </p:spPr>
        <p:txBody>
          <a:bodyPr wrap="square" lIns="0" tIns="0" rIns="0" bIns="0" rtlCol="0" anchor="ctr"/>
          <a:lstStyle/>
          <a:p>
            <a:pPr indent="0" marL="0">
              <a:buNone/>
            </a:pPr>
            <a:r>
              <a:rPr lang="en-US" sz="1800" dirty="0">
                <a:solidFill>
                  <a:srgbClr val="A8A49B"/>
                </a:solidFill>
                <a:latin typeface="Arial" pitchFamily="34" charset="0"/>
                <a:ea typeface="Arial" pitchFamily="34" charset="-122"/>
                <a:cs typeface="Arial" pitchFamily="34" charset="-120"/>
              </a:rPr>
              <a:t>Utilizing the AES-256-CBC cryptographic cipher combined with a secure passphrase to safeguard file confidentiality.</a:t>
            </a:r>
            <a:endParaRPr lang="en-US" sz="1800" dirty="0"/>
          </a:p>
        </p:txBody>
      </p:sp>
      <p:sp>
        <p:nvSpPr>
          <p:cNvPr id="15" name="Shape 13"/>
          <p:cNvSpPr/>
          <p:nvPr/>
        </p:nvSpPr>
        <p:spPr>
          <a:xfrm>
            <a:off x="9418320" y="5029200"/>
            <a:ext cx="7772400" cy="3200400"/>
          </a:xfrm>
          <a:prstGeom prst="roundRect">
            <a:avLst>
              <a:gd name="adj" fmla="val 2857"/>
            </a:avLst>
          </a:prstGeom>
          <a:solidFill>
            <a:srgbClr val="121212"/>
          </a:solidFill>
          <a:ln/>
        </p:spPr>
      </p:sp>
      <p:sp>
        <p:nvSpPr>
          <p:cNvPr id="16" name="Text 14"/>
          <p:cNvSpPr/>
          <p:nvPr/>
        </p:nvSpPr>
        <p:spPr>
          <a:xfrm>
            <a:off x="9784080" y="5303520"/>
            <a:ext cx="1828800" cy="45720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Arial" pitchFamily="34" charset="-122"/>
                <a:cs typeface="Arial" pitchFamily="34" charset="-120"/>
              </a:rPr>
              <a:t>02</a:t>
            </a:r>
            <a:endParaRPr lang="en-US" sz="2800" dirty="0"/>
          </a:p>
        </p:txBody>
      </p:sp>
      <p:sp>
        <p:nvSpPr>
          <p:cNvPr id="17" name="Text 15"/>
          <p:cNvSpPr/>
          <p:nvPr/>
        </p:nvSpPr>
        <p:spPr>
          <a:xfrm>
            <a:off x="9784080" y="5852160"/>
            <a:ext cx="6858000" cy="548640"/>
          </a:xfrm>
          <a:prstGeom prst="rect">
            <a:avLst/>
          </a:prstGeom>
          <a:noFill/>
          <a:ln/>
        </p:spPr>
        <p:txBody>
          <a:bodyPr wrap="square" lIns="0" tIns="0" rIns="0" bIns="0" rtlCol="0" anchor="ctr"/>
          <a:lstStyle/>
          <a:p>
            <a:pPr indent="0" marL="0">
              <a:buNone/>
            </a:pPr>
            <a:r>
              <a:rPr lang="en-US" sz="2000" dirty="0">
                <a:solidFill>
                  <a:srgbClr val="ECE8E1"/>
                </a:solidFill>
                <a:latin typeface="Arial" pitchFamily="34" charset="0"/>
                <a:ea typeface="Arial" pitchFamily="34" charset="-122"/>
                <a:cs typeface="Arial" pitchFamily="34" charset="-120"/>
              </a:rPr>
              <a:t>Cryptographic Hashing</a:t>
            </a:r>
            <a:endParaRPr lang="en-US" sz="2000" dirty="0"/>
          </a:p>
        </p:txBody>
      </p:sp>
      <p:sp>
        <p:nvSpPr>
          <p:cNvPr id="18" name="Text 16"/>
          <p:cNvSpPr/>
          <p:nvPr/>
        </p:nvSpPr>
        <p:spPr>
          <a:xfrm>
            <a:off x="9784080" y="6583680"/>
            <a:ext cx="6858000" cy="1280160"/>
          </a:xfrm>
          <a:prstGeom prst="rect">
            <a:avLst/>
          </a:prstGeom>
          <a:noFill/>
          <a:ln/>
        </p:spPr>
        <p:txBody>
          <a:bodyPr wrap="square" lIns="0" tIns="0" rIns="0" bIns="0" rtlCol="0" anchor="ctr"/>
          <a:lstStyle/>
          <a:p>
            <a:pPr indent="0" marL="0">
              <a:buNone/>
            </a:pPr>
            <a:r>
              <a:rPr lang="en-US" sz="1800" dirty="0">
                <a:solidFill>
                  <a:srgbClr val="A8A49B"/>
                </a:solidFill>
                <a:latin typeface="Arial" pitchFamily="34" charset="0"/>
                <a:ea typeface="Arial" pitchFamily="34" charset="-122"/>
                <a:cs typeface="Arial" pitchFamily="34" charset="-120"/>
              </a:rPr>
              <a:t>Utilizing the SHA-256 digest function to compute a unique fingerprint of the file, ensuring data integrity.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Documentation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 AES Encryption, OpenSSL &amp; Hashing</dc:title>
  <dc:subject>PptxGenJS Presentation</dc:subject>
  <dc:creator>Karim Hamd</dc:creator>
  <cp:lastModifiedBy>Karim Hamd</cp:lastModifiedBy>
  <cp:revision>1</cp:revision>
  <dcterms:created xsi:type="dcterms:W3CDTF">2026-10-16T23:13:47Z</dcterms:created>
  <dcterms:modified xsi:type="dcterms:W3CDTF">2026-10-16T23:13:47Z</dcterms:modified>
</cp:coreProperties>
</file>